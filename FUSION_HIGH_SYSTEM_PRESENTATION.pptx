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94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34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home page provides public visibility while allowing prospective learners and parents to select their respective school for immediate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the Main Executive Administrator has comprehensive cross-institution oversight while ensuring dedicated SubAdmins manage their own individual schools.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appointment workflow: selecting the school, entering educator details, and dispatching automated credentials directly to their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module brings fun and collaboration across schools, allowing students and teachers from all institutions to follow match days and standings.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parents can schedule targeted 20-minute reviews with subject teachers to discuss academic progress, test preparations, and intervention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system turns raw term test marks into official, signed DBE-compliant academic certificates ready for parent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assessment moderation workflow and how subject heads verify teacher marking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that each school maintains its own distinct timetable schedule tailored to its faculty and classroom facilities.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parents can inspect fee statements transparently and receive automated reminders without manual accounting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high schools in Limpopo and Gauteng can boost their provincial matric rankings through predictive 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schools eliminate unsupervised classrooms by automatically matching relief educators during staff 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social impact: unlocking university funding for learners based on their actual academic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AI acts as an educator representing the learner's own school, strictly adhering to the CAPS curriculum without mentioning external AI brand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textbook distribution and return workflows that minimize learning material losses across academic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3657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HIGH EDUCATIONAL ECOSYSTEM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6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Multi-Tenant High School Management, Inter-School League &amp; DBE CAPS Cloud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Presenter: </a:t>
            </a:r>
            <a:r>
              <a:rPr lang="en-US" sz="1300" dirty="0">
                <a:solidFill>
                  <a:srgbClr val="F8FAFC"/>
                </a:solidFill>
              </a:rPr>
              <a:t>Executive School Leadership &amp; Systems Architecture Team
</a:t>
            </a:r>
            <a:r>
              <a:rPr lang="en-US" sz="1300" b="1" dirty="0">
                <a:solidFill>
                  <a:srgbClr val="F59E0B"/>
                </a:solidFill>
              </a:rPr>
              <a:t>Territory Coverage: </a:t>
            </a:r>
            <a:r>
              <a:rPr lang="en-US" sz="1300" dirty="0">
                <a:solidFill>
                  <a:srgbClr val="F8FAFC"/>
                </a:solidFill>
              </a:rPr>
              <a:t>Limpopo (Capricorn South / Mankweng) &amp; Gauteng (Tshwane Districts)
</a:t>
            </a:r>
            <a:r>
              <a:rPr lang="en-US" sz="1300" b="1" dirty="0">
                <a:solidFill>
                  <a:srgbClr val="F59E0B"/>
                </a:solidFill>
              </a:rPr>
              <a:t>Academic Standard: </a:t>
            </a:r>
            <a:r>
              <a:rPr lang="en-US" sz="1300" dirty="0">
                <a:solidFill>
                  <a:srgbClr val="F8FAFC"/>
                </a:solidFill>
              </a:rPr>
              <a:t>South African Department of Basic Education (CAPS Aligned)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" y="533401"/>
            <a:ext cx="90754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</a:rPr>
              <a:t>Executive Summary &amp; Strategic 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 unified cloud infrastructure solving institutional fragmentation, academic tracking, and inter-school collaboration across 12 high schools.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1565910"/>
            <a:ext cx="4404360" cy="177165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" y="1611630"/>
            <a:ext cx="4351020" cy="598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</a:rPr>
              <a:t>Multi-Tenant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2209800"/>
            <a:ext cx="435102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12 isolated schools (Fusion High, Mountainview, Makgoka, Flavius Mareka, etc.) with dedicated SubAdmins and universal SuperAdmin oversight.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19600" y="1577341"/>
            <a:ext cx="4724400" cy="177165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19600" y="1645920"/>
            <a:ext cx="5120640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CAPS Academic &amp; SBA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9600" y="2209800"/>
            <a:ext cx="472440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Continuous assessment tracking, 7-point achievement levels, automated exam memo grading, and 1-click batch report card emailing.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20" y="3371850"/>
            <a:ext cx="4396740" cy="1718310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-53340" y="3531870"/>
            <a:ext cx="446532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Inter-School Collaboration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" y="4046220"/>
            <a:ext cx="4389120" cy="998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Competitive sports derby fixtures, academic Olympiad tournaments, live scoreboards, and circuit-wide championship leaderboards.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9600" y="3348991"/>
            <a:ext cx="4724400" cy="1741169"/>
          </a:xfrm>
          <a:prstGeom prst="roundRect">
            <a:avLst>
              <a:gd name="adj" fmla="val 9091"/>
            </a:avLst>
          </a:prstGeom>
          <a:solidFill>
            <a:srgbClr val="161E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27220" y="3531870"/>
            <a:ext cx="47167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School-Aware AI Tutor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04360" y="4046220"/>
            <a:ext cx="4716780" cy="1043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Subject-specialized AI grounded strictly in the learner's registered school and curriculum with zero institutional leakage.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148"/>
            <a:ext cx="9144000" cy="21793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" y="640080"/>
            <a:ext cx="9090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Universal Multi-School Landing Portal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Public Gateway &amp; Dynamic Institution Switcher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40" y="1584960"/>
            <a:ext cx="4130040" cy="34747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" y="2286000"/>
            <a:ext cx="4221480" cy="2636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Real-time live student and staff counts queried dynamically from PostgreSQL.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1-click school institution switcher across all 12 registered high schools.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Direct links for online student applications, school admissions, and portal login.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Official branding, verified EMIS numbers, and circuit details per campus.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1_landing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701040"/>
            <a:ext cx="4876800" cy="44196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Main Admin Multi-School Command Center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Universal Comparative Analytics &amp; Governance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Side-by-side comparative table for all 12 schools in Limpopo and Gauteng.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Tracks verified enrollment vs capacity, educator rosters, and classroom metrics.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Monitors fee billing, total collections, and financial efficiency per school.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1-click "Manage &amp; Switch View" to jump directly into any institution.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3_command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2743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School User Directory &amp; SubAdmin Appointments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Multi-Tenant Permissions &amp; Faculty Onboarding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060" y="1554480"/>
            <a:ext cx="4389120" cy="35890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3840480" cy="2758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Main Admin appoints dedicated School SubAdmins for specific institutions.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Automated onboarding email dispatch with login credentials and school details.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SubAdmins onboard faculty, assign subject workloads, and manage parents.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Strict database role separation (Admin, Teacher, Parent, Learner).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Inter-School Derbies &amp; Academic Olympiads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Circuit Collaboration, Sports Leagues &amp; Trophies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Schedule inter-school sports matches (Soccer, Netball, Athletics) &amp; academic tournaments.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Live match scoreboards with school crests, venue details, and match summaries.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Circuit championship leaderboard with automated points (Win=3, Draw=1, Loss=0).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Fosters cross-school camaraderie and competitive district excellence.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5_inter_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Parent-Educator Consultation Scheduler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Virtual &amp; In-Person 20-Minute Booking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Parents choose their enrolled child and select specific subject educators.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Real-time calculation of open 20-minute consultation time slots.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1-click booking with automated email confirmation sent to educator and parent.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Educators manage their consultation roster and record academic action plans.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1_consul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Official DBE CAPS Term Report Cards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Automated 7-Point Scale Evaluation &amp; Email Dispatch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Aggregates Continuous Assessment (SBA) marks from PostgreSQL database.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Computes official CAPS 7-Point Achievement Scale (Level 1: 0–29% to Level 7: 80–100%).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Includes automated class educator commendations &amp; principal remarks.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1-click batch compilation and direct PDF email dispatch to all parents.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2_caps_repor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CAPS Mark Audits &amp; SBA Moderation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Curriculum Continuous Assessment &amp; Diagnostics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Term 1–4 SBA weightings and Practical Assessment Task (PAT) tracking.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Statistical distribution analysis identifying at-risk students and high achievers.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Departmental moderation workflow for subject heads and curriculum advisors.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Full compliance with Department of Basic Education National Protocol for Assessment.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6_academic_aud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Conflict-Free School Timetable Allocations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Multi-Venue, Subject Specialist &amp; Class Scheduler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Algorithmic timetable generator allocating subjects, educators, and classrooms.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Guarantees zero educator double-booking and zero classroom clashes.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School-specific isolated schedule ensuring each institution has its own unique timetable.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Real-time slot swap request workflow for educator relief management.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7_timetable_pl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Digital School Fees, Statements &amp; Invoicing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Automated Term Billing &amp; Fee Collection Tracking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Itemized term fee invoices generated per grade and curriculum stream.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Real-time payment tracking, digital receipts, and outstanding balance alerts.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Automated Sunday parent digest with attendance and fee account statements.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Executive financial collection efficiency analytics for school treasurers.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8_fees_invo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Matric Pass Rate &amp; Endorsement Projector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Grade 12 Predictive Analytics &amp; Diagnostic Interventions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Simulates final NSC examination pass rates based on preliminary SBA marks.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Predicts Bachelor's, Diploma, and Higher Certificate endorsement percentages.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Identifies subject bottlenecks (e.g. Mathematics P2, Physical Sciences Chemistry).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Enables targeted revision bootcamps before final National Senior Certificate exams.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09_matric_proj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Educator Leave &amp; Relief Duty Scheduler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Emergency Substitute Allocation &amp; Syllabus Continuity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Educators submit digital leave requests with medical/personal documentation.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Instant detection of open free periods for relief educators in the same department.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Automated daily relief roster ensuring zero unattended learner classrooms.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Audit trail of educator attendance for DBE provincial reporting.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0_leave_r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NSFAS &amp; Tertiary Bursary Matching 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Career Guidance &amp; Higher Education Funding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Comprehensive database of South African tertiary bursaries &amp; NSFAS schemes.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Automatically matches Grade 11 &amp; 12 learners based on simulated APS points &amp; stream.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Step-by-step checklist tracking application deadlines and required documents.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Empowers disadvantaged learners with direct access to higher education funding.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3_bursary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School-Aware AI Subject Specialist &amp; Academic Tutor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Grounding in Individual Schools &amp; Official CAPS Syllabus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Automatically senses the learner's registered school (e.g. Flavius Mareka, Fusion High).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Strict multi-tenant prompt grounding preventing institutional leakage.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Generates past-paper examination questions and step-by-step marking memorandums.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Fluent in all 11 official South African languages for mother-tongue bilingual revision.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4_ai_tu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698480" cy="7315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Textbook &amp; Learning Asset Tracking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Barcoded Inventory &amp; Annual Recovery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System Capabilities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Tracks textbook allocations by ISBN, subject, grade, and learner number.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Monitors textbook returns at the end of each academic term to prevent loss.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Generates asset audit summaries for Department of Basic Education inventory reports.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 Maintains digital PDF study material attachments for immediate classroom access.</a:t>
            </a:r>
            <a:endParaRPr lang="en-US" sz="1100" dirty="0"/>
          </a:p>
        </p:txBody>
      </p:sp>
      <p:pic>
        <p:nvPicPr>
          <p:cNvPr id="8" name="Image 0" descr="C:\FUSION_HIGH_APP_1\FUSION_HIGH_APP_2.1\presentation_assets\screenshots\15_textbook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035040" cy="438912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Full-Stack Technical Architecture &amp;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Enterprise cloud foundation built for resilience, strict tenant isolation, and high scalability.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61E2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React 18, TypeScript, Tailwind CSS, Vite, Lucide Icons. Fully responsive across desktop, tablet, and mobile browsers.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61E2E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</a:rPr>
              <a:t>Backend API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Node.js, Express REST APIs, JWT authentication with bcrypt password hashing and role-based access control.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61E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Relational 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PostgreSQL relational database with foreign key constraints, connection pooling, and multi-tenant schema isolation.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182880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161E2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Automated Communications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743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Nodemailer SMTP integration with responsive HTML templates for credentials, fee reminders, and digest emails.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Conclusion &amp; Operational Readiness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6B6D4"/>
                </a:solidFill>
              </a:rPr>
              <a:t>The Fusion High Multi-School Educational Ecosystem is 100% production-ready, DBE CAPS-compliant, and fully operational with live PostgreSQL data.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0B981"/>
                </a:solidFill>
              </a:rPr>
              <a:t>✓ 12 Active Schools Configured: </a:t>
            </a:r>
            <a:r>
              <a:rPr lang="en-US" sz="1300" dirty="0">
                <a:solidFill>
                  <a:srgbClr val="F8FAFC"/>
                </a:solidFill>
              </a:rPr>
              <a:t>Complete circuit and provincial profiles.
</a:t>
            </a:r>
            <a:r>
              <a:rPr lang="en-US" sz="1300" b="1" dirty="0">
                <a:solidFill>
                  <a:srgbClr val="10B981"/>
                </a:solidFill>
              </a:rPr>
              <a:t>✓ Multi-Tenant Administration: </a:t>
            </a:r>
            <a:r>
              <a:rPr lang="en-US" sz="1300" dirty="0">
                <a:solidFill>
                  <a:srgbClr val="F8FAFC"/>
                </a:solidFill>
              </a:rPr>
              <a:t>Main SuperAdmin governance with isolated SubAdmins.
</a:t>
            </a:r>
            <a:r>
              <a:rPr lang="en-US" sz="1300" b="1" dirty="0">
                <a:solidFill>
                  <a:srgbClr val="10B981"/>
                </a:solidFill>
              </a:rPr>
              <a:t>✓ Zero Mock / Dummy Data: </a:t>
            </a:r>
            <a:r>
              <a:rPr lang="en-US" sz="1300" dirty="0">
                <a:solidFill>
                  <a:srgbClr val="F8FAFC"/>
                </a:solidFill>
              </a:rPr>
              <a:t>All statistics, marks, and rosters query real database tables.
</a:t>
            </a:r>
            <a:r>
              <a:rPr lang="en-US" sz="1300" b="1" dirty="0">
                <a:solidFill>
                  <a:srgbClr val="10B981"/>
                </a:solidFill>
              </a:rPr>
              <a:t>✓ Automated Email Services: </a:t>
            </a:r>
            <a:r>
              <a:rPr lang="en-US" sz="1300" dirty="0">
                <a:solidFill>
                  <a:srgbClr val="F8FAFC"/>
                </a:solidFill>
              </a:rPr>
              <a:t>Credentials, consultation notices, and report cards dispatch instantly.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1585</Words>
  <Application>Microsoft Office PowerPoint</Application>
  <PresentationFormat>On-screen Show (16:9)</PresentationFormat>
  <Paragraphs>198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Fusion Educational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Fusion High Multi-School Educational Ecosystem — System Architecture &amp; Presentation</dc:title>
  <dc:subject>PptxGenJS Presentation</dc:subject>
  <dc:creator>Dr. Tshepo Makola (SuperAdmin Executive)</dc:creator>
  <cp:lastModifiedBy>HON TSHEPHO LETLALO MAKULA (202247878)</cp:lastModifiedBy>
  <cp:revision>2</cp:revision>
  <dcterms:created xsi:type="dcterms:W3CDTF">2026-08-30T11:46:22Z</dcterms:created>
  <dcterms:modified xsi:type="dcterms:W3CDTF">2026-08-30T19:45:38Z</dcterms:modified>
</cp:coreProperties>
</file>
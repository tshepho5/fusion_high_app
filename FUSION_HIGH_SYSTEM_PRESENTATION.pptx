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the home page provides public visibility while allowing prospective learners and parents to select their respective school for immediate 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the Main Executive Administrator has comprehensive cross-institution oversight while ensuring dedicated SubAdmins manage their own individual schools.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appointment workflow: selecting the school, entering educator details, and dispatching automated credentials directly to their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this module brings fun and collaboration across schools, allowing students and teachers from all institutions to follow match days and standings.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how parents can schedule targeted 20-minute reviews with subject teachers to discuss academic progress, test preparations, and intervention strategies.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the system turns raw term test marks into official, signed DBE-compliant academic certificates ready for parent inspection.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assessment moderation workflow and how subject heads verify teacher marking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Reiterate that each school maintains its own distinct timetable schedule tailored to its faculty and classroom facilities.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parents can inspect fee statements transparently and receive automated reminders without manual accounting bottlenecks.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how high schools in Limpopo and Gauteng can boost their provincial matric rankings through predictive diagnostics.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schools eliminate unsupervised classrooms by automatically matching relief educators during staff absence.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social impact: unlocking university funding for learners based on their actual academic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the AI acts as an educator representing the learner's own school, strictly adhering to the CAPS curriculum without mentioning external AI brand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textbook distribution and return workflows that minimize learning material losses across academic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698480" cy="3657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HIGH EDUCATIONAL ECOSYSTEM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Next-Generation Multi-Tenant High School Management, Inter-School League &amp; DBE CAPS Cloud Platform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Presenter: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</a:rPr>
              <a:t>Executive School Leadership &amp; Systems Architecture Team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Territory Coverage: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</a:rPr>
              <a:t>Limpopo (Capricorn South / Mankweng) &amp; Gauteng (Tshwane Districts)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</a:rPr>
              <a:t>Academic Standard: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</a:rPr>
              <a:t>South African Department of Basic Education (CAPS &amp; SASAMS Aligned)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Executive Summary &amp; Strategic Vision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 unified cloud infrastructure solving institutional fragmentation, academic tracking, and inter-school collaboration across 12 high schools.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120640" cy="2011680"/>
          </a:xfrm>
          <a:prstGeom prst="roundRect">
            <a:avLst>
              <a:gd name="adj" fmla="val 9091"/>
            </a:avLst>
          </a:prstGeom>
          <a:solidFill>
            <a:srgbClr val="161E2E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</a:rPr>
              <a:t>Multi-Tenant Architecture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5603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12 isolated schools (Fusion High, Mountainview, Makgoka, Flavius Mareka, etc.) with dedicated SubAdmins and universal SuperAdmin oversight.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828800"/>
            <a:ext cx="5120640" cy="2011680"/>
          </a:xfrm>
          <a:prstGeom prst="roundRect">
            <a:avLst>
              <a:gd name="adj" fmla="val 9091"/>
            </a:avLst>
          </a:prstGeom>
          <a:solidFill>
            <a:srgbClr val="161E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CAPS Academic &amp; SBA Engine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5603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Continuous assessment tracking, 7-point achievement levels, automated exam memo grading, and 1-click batch report card emailing.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4114800"/>
            <a:ext cx="5120640" cy="2011680"/>
          </a:xfrm>
          <a:prstGeom prst="roundRect">
            <a:avLst>
              <a:gd name="adj" fmla="val 9091"/>
            </a:avLst>
          </a:prstGeom>
          <a:solidFill>
            <a:srgbClr val="161E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Inter-School Collaboration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48463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Competitive sports derby fixtures, academic Olympiad tournaments, live scoreboards, and circuit-wide championship leaderboards.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4114800"/>
            <a:ext cx="5120640" cy="2011680"/>
          </a:xfrm>
          <a:prstGeom prst="roundRect">
            <a:avLst>
              <a:gd name="adj" fmla="val 9091"/>
            </a:avLst>
          </a:prstGeom>
          <a:solidFill>
            <a:srgbClr val="161E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School-Aware AI Tutor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8463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Subject-specialized AI grounded strictly in the learner's registered school and curriculum with zero institutional leakage.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Universal Multi-School Landing Portal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Public Gateway &amp; Dynamic Institution Switcher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Real-time live student and staff counts queried dynamically from PostgreSQL.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1-click school institution switcher across all 12 registered high schools.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Direct links for online student applications, school admissions, and portal login.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Official branding, verified EMIS numbers, and circuit details per campus.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01_landing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Main Admin Multi-School Command Center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Universal Comparative Analytics &amp; Governance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Side-by-side comparative table for all 12 schools in Limpopo and Gauteng.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Tracks verified enrollment vs capacity, educator rosters, and classroom metrics.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Monitors fee billing, total collections, and financial efficiency per school.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1-click "Manage &amp; Switch View" to jump directly into any institution.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03_command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School User Directory &amp; SubAdmin Appointments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Multi-Tenant Permissions &amp; Faculty Onboarding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Main Admin appoints dedicated School SubAdmins for specific institutions.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Automated onboarding email dispatch with login credentials and school details.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SubAdmins onboard faculty, assign subject workloads, and manage parents.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Strict database role separation (Admin, Teacher, Parent, Learner).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04_user_dir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Inter-School Derbies &amp; Academic Olympiads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Circuit Collaboration, Sports Leagues &amp; Trophies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Schedule inter-school sports matches (Soccer, Netball, Athletics) &amp; academic tournaments.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Live match scoreboards with school crests, venue details, and match summaries.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Circuit championship leaderboard with automated points (Win=3, Draw=1, Loss=0).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Fosters cross-school camaraderie and competitive district excellence.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05_inter_sch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Parent-Educator Consultation Scheduler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Virtual &amp; In-Person 20-Minute Booking Engine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Parents choose their enrolled child and select specific subject educators.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Real-time calculation of open 20-minute consultation time slots.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1-click booking with automated email confirmation sent to educator and parent.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Educators manage their consultation roster and record academic action plans.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11_consult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Official DBE CAPS Term Report Cards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Automated 7-Point Scale Evaluation &amp; Email Dispatch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Aggregates Continuous Assessment (SBA) marks from PostgreSQL database.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Computes official CAPS 7-Point Achievement Scale (Level 1: 0–29% to Level 7: 80–100%).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Includes automated class educator commendations &amp; principal remarks.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1-click batch compilation and direct PDF email dispatch to all parents.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12_caps_report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CAPS Mark Audits &amp; SBA Moderation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Curriculum Continuous Assessment &amp; Diagnostics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Term 1–4 SBA weightings and Practical Assessment Task (PAT) tracking.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Statistical distribution analysis identifying at-risk students and high achievers.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Departmental moderation workflow for subject heads and curriculum advisors.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Full compliance with Department of Basic Education National Protocol for Assessment.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06_academic_aud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Conflict-Free School Timetable Allocations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Multi-Venue, Subject Specialist &amp; Class Scheduler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Algorithmic timetable generator allocating subjects, educators, and classrooms.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Guarantees zero educator double-booking and zero classroom clashes.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School-specific isolated schedule ensuring each institution has its own unique timetable.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Real-time slot swap request workflow for educator relief management.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07_timetable_plan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Digital School Fees, Statements &amp; Invoicing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Automated Term Billing &amp; Fee Collection Tracking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Itemized term fee invoices generated per grade and curriculum stream.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Real-time payment tracking, digital receipts, and outstanding balance alerts.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Automated Sunday parent digest with attendance and fee account statements.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Executive financial collection efficiency analytics for school treasurers.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08_fees_invo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Matric Pass Rate &amp; Endorsement Projector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Grade 12 Predictive Analytics &amp; Diagnostic Interventions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Simulates final NSC examination pass rates based on preliminary SBA marks.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Predicts Bachelor's, Diploma, and Higher Certificate endorsement percentages.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Identifies subject bottlenecks (e.g. Mathematics P2, Physical Sciences Chemistry).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Enables targeted revision bootcamps before final National Senior Certificate exams.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09_matric_proj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Educator Leave &amp; Relief Duty Scheduler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Emergency Substitute Allocation &amp; Syllabus Continuity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Educators submit digital leave requests with medical/personal documentation.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Instant detection of open free periods for relief educators in the same department.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Automated daily relief roster ensuring zero unattended learner classrooms.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Audit trail of educator attendance for DBE provincial reporting.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10_leave_rel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NSFAS &amp; Tertiary Bursary Matching Hub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Career Guidance &amp; Higher Education Funding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Comprehensive database of South African tertiary bursaries &amp; NSFAS schemes.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Automatically matches Grade 11 &amp; 12 learners based on simulated APS points &amp; stream.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Step-by-step checklist tracking application deadlines and required documents.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Empowers disadvantaged learners with direct access to higher education funding.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13_bursary_eng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School-Aware AI Subject Specialist &amp; Academic Tutor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Grounding in Individual Schools &amp; Official CAPS Syllabus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Automatically senses the learner's registered school (e.g. Flavius Mareka, Fusion High).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Strict multi-tenant prompt grounding preventing institutional leakage.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Generates past-paper examination questions and step-by-step marking memorandums.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Fluent in all 11 official South African languages for mother-tongue bilingual revision.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14_ai_tu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69848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Textbook &amp; Learning Asset Tracking System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</a:rPr>
              <a:t>Barcoded Inventory &amp; Annual Recovery Management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4389120" cy="4389120"/>
          </a:xfrm>
          <a:prstGeom prst="roundRect">
            <a:avLst>
              <a:gd name="adj" fmla="val 3125"/>
            </a:avLst>
          </a:prstGeom>
          <a:solidFill>
            <a:srgbClr val="161E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Core System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Tracks textbook allocations by ISBN, subject, grade, and learner number.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Monitors textbook returns at the end of each academic term to prevent loss.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Generates asset audit summaries for Department of Basic Education inventory reports.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•  Maintains digital PDF study material attachments for immediate classroom access.</a:t>
            </a:r>
            <a:endParaRPr lang="en-US" sz="1100" dirty="0"/>
          </a:p>
        </p:txBody>
      </p:sp>
      <p:pic>
        <p:nvPicPr>
          <p:cNvPr id="8" name="Image 0" descr="C:\FUSION_HIGH_APP_1\FUSION_HIGH_APP_2.1\presentation_assets\screenshots\15_textbook_inven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45920"/>
            <a:ext cx="603504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Full-Stack Technical Architecture &amp; Security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Enterprise cloud foundation built for resilience, strict tenant isolation, and high scalability.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560320" cy="4114800"/>
          </a:xfrm>
          <a:prstGeom prst="roundRect">
            <a:avLst>
              <a:gd name="adj" fmla="val 5357"/>
            </a:avLst>
          </a:prstGeom>
          <a:solidFill>
            <a:srgbClr val="161E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</a:rPr>
              <a:t>Frontend Layer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React 18, TypeScript, Tailwind CSS, Vite, Lucide Icons. Fully responsive across desktop, tablet, and mobile browsers.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828800"/>
            <a:ext cx="2560320" cy="4114800"/>
          </a:xfrm>
          <a:prstGeom prst="roundRect">
            <a:avLst>
              <a:gd name="adj" fmla="val 5357"/>
            </a:avLst>
          </a:prstGeom>
          <a:solidFill>
            <a:srgbClr val="161E2E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Backend API Engine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11880" y="274320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Node.js, Express REST APIs, JWT authentication with bcrypt password hashing and role-based access control.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2560320" cy="4114800"/>
          </a:xfrm>
          <a:prstGeom prst="roundRect">
            <a:avLst>
              <a:gd name="adj" fmla="val 5357"/>
            </a:avLst>
          </a:prstGeom>
          <a:solidFill>
            <a:srgbClr val="161E2E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Relational Database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PostgreSQL relational database with foreign key constraints, connection pooling, and multi-tenant schema isolation.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823960" y="1828800"/>
            <a:ext cx="2560320" cy="4114800"/>
          </a:xfrm>
          <a:prstGeom prst="roundRect">
            <a:avLst>
              <a:gd name="adj" fmla="val 5357"/>
            </a:avLst>
          </a:prstGeom>
          <a:solidFill>
            <a:srgbClr val="161E2E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Automated Communications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06840" y="274320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</a:rPr>
              <a:t>Nodemailer SMTP integration with responsive HTML templates for credentials, fee reminders, and digest emails.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698480" cy="91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</a:rPr>
              <a:t>Conclusion &amp; Operational Readiness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6B6D4"/>
                </a:solidFill>
              </a:rPr>
              <a:t>The Fusion High Multi-School Educational Ecosystem is 100% production-ready, DBE CAPS-compliant, and fully operational with live PostgreSQL data.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698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0B981"/>
                </a:solidFill>
              </a:rPr>
              <a:t>✓ 12 Active Schools Configured: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</a:rPr>
              <a:t>Complete circuit and provincial profiles.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0B981"/>
                </a:solidFill>
              </a:rPr>
              <a:t>✓ Multi-Tenant Administration: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</a:rPr>
              <a:t>Main SuperAdmin governance with isolated SubAdmins.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0B981"/>
                </a:solidFill>
              </a:rPr>
              <a:t>✓ Zero Mock / Dummy Data: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</a:rPr>
              <a:t>All statistics, marks, and rosters query real database tables.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0B981"/>
                </a:solidFill>
              </a:rPr>
              <a:t>✓ Automated Email Services: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</a:rPr>
              <a:t>Credentials, consultation notices, and report cards dispatch instantly.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Fusion Educational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Fusion High Multi-School Educational Ecosystem — System Architecture &amp; Presentation</dc:title>
  <dc:subject>PptxGenJS Presentation</dc:subject>
  <dc:creator>Dr. Tshepo Makola (SuperAdmin Executive)</dc:creator>
  <cp:lastModifiedBy>Dr. Tshepo Makola (SuperAdmin Executive)</cp:lastModifiedBy>
  <cp:revision>1</cp:revision>
  <dcterms:created xsi:type="dcterms:W3CDTF">2026-08-30T11:46:22Z</dcterms:created>
  <dcterms:modified xsi:type="dcterms:W3CDTF">2026-08-30T11:46:22Z</dcterms:modified>
</cp:coreProperties>
</file>
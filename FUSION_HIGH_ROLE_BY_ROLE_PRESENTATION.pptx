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public gateway provides institutional branding for all 12 campuses while directing users to their respective portals.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how the authentication engine automatically routes users to their respective workspaces based on verified database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the primary command overview where school principals and executive directors monitor daily institutional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SuperAdmin can oversee the entire educational group while ensuring each school has its own dedicated SubAdmin.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SubAdmins are appointed and how faculty members receive automated login credentials with assigned grades and subjects.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derby league brings schools together for sports tournaments and academic quizzes with live leaderboards.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how subject heads verify teacher marking standards and ensure curriculum compliance before term report card publishing.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Reiterate that each school maintains its own distinct timetable schedule tailored to its faculty and classroom facilities.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financial collection rate metrics and itemized term billing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how high schools can boost their provincial matric rankings through predictive diagnostics.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the system eliminates unsupervised classrooms by matching relief teachers during staff absence.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educator's daily launchpad designed for maximum teaching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teachers manage their assigned subjects, view enrolled learners, and track grade averages.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teachers have full autonomy to upload their own revision materials whenever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digital markbook entry workflow that calculates CAPS SBA totals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period attendance register and automated parent notification triggers.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the AI Lesson Planner assists teachers in creating CAPS-aligned teaching plans and tests in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homework assignment creation and submission review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how parents can monitor all their children across grades from a single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parents inspect their child's subject grades and track their academic trajectory throughout the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parents can schedule targeted 20-minute reviews with subject teachers to discuss academic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parent fee statement view with transparent accounting and payment receipts.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parents can follow their child's daily timetable to ensure proper study routines.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student home screen designed to motivate learners through gamification and structured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learners navigate their subject curriculum, read revision notes, and trigger AI study sessions.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AI assistant represents the learner's own school campus, adhering strictly to the CAPS syllabus.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Showcase the Fusion Arcade where students reinforce their classroom learning through engaging revision games.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the bursary engine unlocks university and TVET college funding opportunities for matriculants.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Career Advisor guides high school learners toward viable university and vocational career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HIGH EDUCATIONAL ECOSYSTEM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Role-by-Role System Presentation &amp; Technical Architecture Walkthrough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59E0B"/>
                </a:solidFill>
              </a:rPr>
              <a:t>Complete Walkthrough: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Admin, Educator, Parent &amp; Learner Portals (Page by Page)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59E0B"/>
                </a:solidFill>
              </a:rPr>
              <a:t>Multi-Tenant Scope: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12 Active Campuses across Limpopo (Capricorn South) &amp; Gauteng (Tshwane)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59E0B"/>
                </a:solidFill>
              </a:rPr>
              <a:t>Curriculum Standards: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Department of Basic Education (DBE CAPS &amp; SASAMS Compliant)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Presentation Roadmap: User-by-User Portals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Four dedicated stakeholder chapters showcasing live screens, features, and workflows.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2103120"/>
          </a:xfrm>
          <a:prstGeom prst="roundRect">
            <a:avLst>
              <a:gd name="adj" fmla="val 8696"/>
            </a:avLst>
          </a:prstGeom>
          <a:solidFill>
            <a:srgbClr val="161E2E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Chapter 1: Administrator Hub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10 Core Modules: Command Center, User Permissions, Inter-School Derbies, Mark Audits, Timetables, Fees, Matric Projector, Relief Scheduler, Exams.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120640" cy="2103120"/>
          </a:xfrm>
          <a:prstGeom prst="roundRect">
            <a:avLst>
              <a:gd name="adj" fmla="val 8696"/>
            </a:avLst>
          </a:prstGeom>
          <a:solidFill>
            <a:srgbClr val="161E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Chapter 2: Educator Workspace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7 Core Modules: Teaching Schedule, Subject Workload, Resources Studio, CAPS Markbook, Attendance Register, AI Lesson Planner, Homework Hub.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5120640" cy="2103120"/>
          </a:xfrm>
          <a:prstGeom prst="roundRect">
            <a:avLst>
              <a:gd name="adj" fmla="val 8696"/>
            </a:avLst>
          </a:prstGeom>
          <a:solidFill>
            <a:srgbClr val="161E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Chapter 3: Parent Family Portal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7548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5 Core Modules: Multi-Child Dashboard, Academic Reports, 20-Min Teacher Consultations, Digital Fee Statements, Child Weekly Timetables.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4023360"/>
            <a:ext cx="5120640" cy="2103120"/>
          </a:xfrm>
          <a:prstGeom prst="roundRect">
            <a:avLst>
              <a:gd name="adj" fmla="val 8696"/>
            </a:avLst>
          </a:prstGeom>
          <a:solidFill>
            <a:srgbClr val="161E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Chapter 4: Learner Learning Hub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7548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6 Core Modules: Student Overview, Subject Topics, School-Aware AI Tutor, Fusion Arcade Games, NSFAS Bursaries, Career Advisor.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Universal Multi-School Landing Portal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Public &amp; Authentication Portals  •  Dynamic 12-School Campus Selector, Live Statistics &amp; Admissions Gateway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Live counters querying verified enrolled learners, classes, and academic faculty directly from PostgreSQL.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1-click institution switcher across 12 high schools in Limpopo (Capricorn South / Mankweng) &amp; Gauteng (Tshwane).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Official branding, verified DBE EMIS numbers, and circuit details per campus.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Direct online learner application portal and prospective parent registration.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01_landing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Role-Based Authentication Gateway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Public &amp; Authentication Portals  •  Secure Sign-In for SuperAdmin, SubAdmin, Educator, Parent &amp; Learner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Multi-role login supporting email address, learner ID number, and employee credentials.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Bcrypt-encrypted password hashing and signed JWT session token generation.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Automated redirect to role-specific dashboard with strict permission isolation.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60-second time-based OTP password recovery workflow with direct email verification.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02_login_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0698480" cy="91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</a:rPr>
              <a:t>1. EXECUTIVE ADMINISTRATOR DASHBOARD &amp; OPERATIONS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In-depth page-by-page screen walkthrough with live database metrics &amp; operational workflows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Executive School Overview &amp; Macro KPIs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1. Executive Administrator Dashboard &amp; Operations  •  Institutional Operational Dashboard &amp; Rapid Module Dispatch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Instant overview cards: Total Enrolled Learners, Academic Staff Roster, Classrooms, and Attendance Rate.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Real-time executive actions: Launch Admissions, Open Mark Audits, Schedule Timetables, and Manage Fees.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Live school calendar feed displaying upcoming district assessments and circuit events.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Universal module back-navigation bar enabling seamless transitions between tools.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03_admin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Multi-School Command Center (SuperAdmin)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1. Executive Administrator Dashboard &amp; Operations  •  Universal Comparative Analytics Across All 12 High Schools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Side-by-side comparative table for all 12 schools in Limpopo and Gauteng.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Monitors student enrollment vs capacity, educator rosters, and classroom metrics.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Tracks fee billing, total collections, and financial efficiency per school.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1-click "Manage &amp; Switch View" to jump directly into any institution.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04_admin_command_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User Directory &amp; SubAdmin Appointments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1. Executive Administrator Dashboard &amp; Operations  •  Multi-Tenant Permission Hierarchy &amp; Faculty Onboarding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Main Admin appoints dedicated School SubAdmins for specific institutions.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Automated onboarding email dispatch with temporary password and school details.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SubAdmins onboard faculty, assign subject workloads, and manage parents.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Strict database role separation (Admin, Teacher, Parent, Learner).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05_admi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Inter-School Derbies &amp; Academic Olympiads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1. Executive Administrator Dashboard &amp; Operations  •  Circuit Collaboration, Sports Leagues &amp; Trophies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Schedule inter-school sports matches (Soccer, Netball, Athletics) &amp; academic tournaments.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Live match scoreboards with school crests, venue details, and match summaries.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Circuit championship leaderboard with automated points (Win=3, Draw=1, Loss=0).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Fosters cross-school camaraderie and competitive district excellence.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06_admin_inter_sch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CAPS Mark Audits &amp; SBA Moderation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1. Executive Administrator Dashboard &amp; Operations  •  Continuous Assessment Quality Assurance &amp; Statistical Distribution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Term 1–4 SBA weightings and Practical Assessment Task (PAT) tracking.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Statistical distribution analysis identifying at-risk students and high achievers.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Departmental moderation workflow for subject heads and curriculum advisors.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Full compliance with Department of Basic Education National Protocol for Assessment.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07_admin_ma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Conflict-Free Timetable Master Planner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1. Executive Administrator Dashboard &amp; Operations  •  Algorithmic School-Wide Scheduling &amp; Venue Allocations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Algorithmic timetable generator allocating subjects, educators, and classrooms.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Guarantees zero educator double-booking and zero classroom clashes.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School-specific isolated schedule ensuring each institution has its own unique timetable.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Real-time slot swap request workflow for educator relief management.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08_admin_time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School Fees, Statements &amp; Invoicing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1. Executive Administrator Dashboard &amp; Operations  •  Automated Billing, Payment Audits &amp; Financial Analytics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Itemized term fee invoices generated per grade and curriculum stream.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Real-time payment tracking, digital receipts, and outstanding balance alerts.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Automated Sunday parent digest with attendance and fee account statements.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Executive financial collection efficiency analytics for school treasurers.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09_admin_fi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Matric Pass Rate Projector (Grade 12)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1. Executive Administrator Dashboard &amp; Operations  •  Predictive Endorsement Analytics &amp; Early Warning Diagnostics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Simulates final NSC examination pass rates based on preliminary SBA marks.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Predicts Bachelor's, Diploma, and Higher Certificate endorsement percentages.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Identifies subject bottlenecks (e.g. Mathematics P2, Physical Sciences Chemistry).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Enables targeted revision bootcamps before final National Senior Certificate exams.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0_admin_mat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Educator Leave &amp; Relief Duty Scheduler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1. Executive Administrator Dashboard &amp; Operations  •  Emergency Substitute Matching &amp; Continuous Classroom Supervision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Educators submit digital leave requests with medical/personal documentation.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Instant detection of open free periods for relief educators in the same department.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Automated daily relief roster ensuring zero unattended learner classrooms.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Audit trail of educator attendance for DBE provincial reporting.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1_admin_leave_reli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0698480" cy="91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</a:rPr>
              <a:t>2. EDUCATOR &amp; TEACHER WORKSPACE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In-depth page-by-page screen walkthrough with live database metrics &amp; operational workflows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Educator Workspace &amp; Daily Schedule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2. Educator &amp; Teacher Workspace  •  Today's Classes, Pending Marks &amp; Rapid Academic Tools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Personalized daily teaching schedule highlighting current and upcoming class periods.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Pending assessment marks alert and quick submission shortcut.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Unread parent communications and consultation appointment notifications.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Quick access to AI Lesson Planner, Test Generator, and Attendance registers.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2_teacher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Subject Workload &amp; Class Rosters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2. Educator &amp; Teacher Workspace  •  Assigned Teaching Classes, Learner Lists &amp; Performance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Complete breakdown of allocated teaching grades, streams, and subject classes.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Class learner rosters with direct student profile inspections and attendance history.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Individual and class-wide academic averages with performance trend indicators.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1-click shortcut to launch subject-specific announcements or assign homework.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3_teacher_sub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Learning Resources &amp; Past Papers Studio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2. Educator &amp; Teacher Workspace  •  On-Demand Question Paper, Textbook &amp; Worksheet Uploads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Educators upload past question papers, exam memorandums, study guides, and worksheets at their own convenience.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Categorization by Subject, Grade (8–12), Term, and Academic Year.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Instant broadcast notification dispatched to enrolled learners and linked parents upon publication.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Completely eliminates project disk bloat while empowering educators with full material control.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4_teacher_resour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CAPS Markbook &amp; Assessment Recording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2. Educator &amp; Teacher Workspace  •  Task Mark Entry, Formal SBA Weightings &amp; Auto-Calculations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Digital gradebook for recording class tests, assignments, practicals, and exams.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Automated CAPS SBA percentage weighting calculations (e.g. 25% SBA + 75% Exam).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Bulk mark entry with keyboard navigation and instant validation against total marks.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Audit trail ensuring marks are ready for moderation and official report card generation.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5_teacher_assess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Class Attendance &amp; Punctuality Register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2. Educator &amp; Teacher Workspace  •  Period-by-Period Student Attendance &amp; Absence Tracking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Fast 1-click attendance marking (Present, Absent, Late, Excused).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Automated parent SMS / email trigger when a learner is marked unexcused absent.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Monthly attendance aggregation feeding into DBE provincial SASAMS statistics.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Historical absence pattern recognition for early student welfare intervention.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6_teacher_atten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AI Lesson Planner &amp; Test Generator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2. Educator &amp; Teacher Workspace  •  CAPS-Aligned Curriculum Planning &amp; Examination Creator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Generates complete 45-minute CAPS lesson plans with learning outcomes, activities, and homework.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Creates customized examination papers with step-by-step marking memorandums.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Adjustable difficulty levels (Foundational, Intermediate, Advanced / Olympiad).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Saves teachers hours of administrative preparation each academic week.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7_teacher_ai_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Digital Homework &amp; Assignments Studio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2. Educator &amp; Teacher Workspace  •  Online Assignment Publishing, Submissions &amp; Grading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Publish digital homework tasks with attached instructions, due dates, and rubrics.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Learners submit digital answers and files directly through their student portal.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Online submission review with educator feedback notes and mark recording.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Automated reminders sent to students with pending submissions approaching deadlines.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8_teacher_assign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0698480" cy="91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</a:rPr>
              <a:t>3. PARENT &amp; FAMILY LEARNING PORTAL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In-depth page-by-page screen walkthrough with live database metrics &amp; operational workflows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Family Learning Hub &amp; Child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3. Parent &amp; Family Learning Portal  •  Comprehensive Multi-Child Dashboard &amp; Real-Time Monitoring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Multi-child linking allowing parents with multiple enrolled children to switch seamlessly.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Real-time snapshot of children's current academic averages, attendance %, and conduct points.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Quick access to fee payment balance, upcoming consultations, and school notices.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Direct messaging link to communicate with subject teachers and school administrators.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19_parent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Child Academic Progress &amp; Marks Breakdown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3. Parent &amp; Family Learning Portal  •  Subject Marks, SBA Tasks &amp; Continuous Assessment History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Detailed subject-by-subject performance tracking for every registered learning area.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Continuous assessment task history showing test scores, assignments, and term exams.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Visual progress bars highlighting subject strengths and areas requiring revision.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Direct link to download official DBE CAPS term academic report cards.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0_parent_childr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Parent-Educator Consultation Scheduler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3. Parent &amp; Family Learning Portal  •  Virtual &amp; In-Person 20-Minute Appointment Booking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Parents select their child and choose specific subject educators for consultation.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Real-time calculation of open 20-minute consultation time slots.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1-click booking with automated email confirmation sent to educator and parent.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Educators manage their consultation roster and record academic action plans.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1_parent_consult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School Fees &amp; Digital Statements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3. Parent &amp; Family Learning Portal  •  Online Account Statements, Invoices &amp; Payment Receipts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Live fee statement detailing term tuition, textbook levies, and extracurricular fees.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Downloadable PDF tax-compliant invoices and official school payment receipts.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Transparent payment breakdown showing paid amounts, current balance, and due dates.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Automated Sunday parent digest summarizing weekly attendance and fee account balances.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2_parent_fi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Child Weekly Class Timetable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3. Parent &amp; Family Learning Portal  •  Daily Subject Schedule, Periods &amp; Classroom Venues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Full weekly view of the child's class schedule across Monday to Friday.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Identifies exact classroom locations, subject educators, and period times.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Helps parents ensure learners are properly equipped for daily practicals and tests.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Live integration with teacher relief duty changes during educator absence.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3_parent_time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0698480" cy="91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</a:rPr>
              <a:t>4. LEARNER &amp; STUDENT LEARNING HUB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In-depth page-by-page screen walkthrough with live database metrics &amp; operational workflows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Student Learning Hub &amp; Study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4. Learner &amp; Student Learning Hub  •  Enrolled Subjects, Daily Streak XP &amp; Upcoming Tasks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Personalized student dashboard showcasing enrolled CAPS subjects and active grade.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Daily study streak, gamified XP points, and academic achievement badges.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Upcoming homework assignments, test dates, and official school announcements.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1-click launchpad into the AI Tutor, Past Papers bank, and Fusion Arcade.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4_learner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Subject Curriculum &amp; Topic Revision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4. Learner &amp; Student Learning Hub  •  CAPS Topics, Study Guides, Formula Sheets &amp; Notes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Curriculum breakdown of all enrolled subjects (Maths, Sciences, Accounting, Languages).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Structured topic chapters with revision notes, video lessons, and formula summaries.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1-click "Revise with AI" button to practice problem solving on specific CAPS sub-topics.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Subject teacher contact shortcut for academic inquiries.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5_learner_sub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School-Aware AI Subject Specialist &amp; Academic Tutor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4. Learner &amp; Student Learning Hub  •  Multi-Tenant Grounding, Past-Paper Quizzes &amp; 11 SA Languages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Automatically senses the learner's registered school (e.g. Flavius Mareka, Fusion High).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Strict multi-tenant prompt grounding preventing institutional leakage.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Generates past-paper examination questions and step-by-step marking memorandums.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Fluent in all 11 official South African languages for mother-tongue bilingual revision.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6_learner_ai_tu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Fusion Arcade &amp; CAPS Study Games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4. Learner &amp; Student Learning Hub  •  Gamified Exam Quizzes, Level Progression &amp; XP Leaderboards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Interactive rapid-fire revision quizzes across all Grade 8–12 CAPS subjects.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Level progression system awarding XP, streak multipliers, and mastery trophies.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Circuit and school leaderboards encouraging healthy academic competition.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Instant question explanations helping students master challenging concepts.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7_learner_arc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NSFAS &amp; Tertiary Bursary Matching Engine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4. Learner &amp; Student Learning Hub  •  Simulated APS Points, Degree Matching &amp; Funding Applications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Comprehensive database of South African tertiary bursaries &amp; NSFAS schemes.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Automatically matches Grade 11 &amp; 12 learners based on simulated APS points &amp; stream.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Step-by-step checklist tracking application deadlines and required documents.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Empowers disadvantaged learners with direct access to higher education funding.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8_learner_bursa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Career Pathway &amp; University Admission Advisor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4. Learner &amp; Student Learning Hub  •  Degree Requirements, Faculty APS &amp; South African Career Paths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389120" cy="4754880"/>
          </a:xfrm>
          <a:prstGeom prst="roundRect">
            <a:avLst>
              <a:gd name="adj" fmla="val 3125"/>
            </a:avLst>
          </a:prstGeom>
          <a:solidFill>
            <a:srgbClr val="161E2E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Core Features &amp; Capabilities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Evaluates current subject package against entry requirements for SA universities.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Calculates Admission Point Scores (APS) across faculties (Engineering, Health, Commerce, Law).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Explores high-demand scarce skill careers in South Africa.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•  Provides actionable advice on target marks needed to secure degree admissions.</a:t>
            </a:r>
            <a:endParaRPr lang="en-US" sz="1050" dirty="0"/>
          </a:p>
        </p:txBody>
      </p:sp>
      <p:pic>
        <p:nvPicPr>
          <p:cNvPr id="8" name="Image 0" descr="C:\FUSION_HIGH_APP_1\FUSION_HIGH_APP_2.1\presentation_assets\screenshots\29_learner_car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6035040" cy="4754880"/>
          </a:xfrm>
          <a:prstGeom prst="ellipse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91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Conclusion &amp; Operational Readiness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The Fusion High Multi-School Educational Ecosystem delivers a unified, production-ready solution tailored specifically to South African high schools.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0B981"/>
                </a:solidFill>
              </a:rPr>
              <a:t>✓ 12 Isolated Campuses Configured: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Full provincial profiles for Limpopo and Gauteng.
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0B981"/>
                </a:solidFill>
              </a:rPr>
              <a:t>✓ Role-Based Portals: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Dedicated interfaces for Admins, Educators, Parents, and Learners.
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0B981"/>
                </a:solidFill>
              </a:rPr>
              <a:t>✓ Real Database Integration: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All stats, marks, and rosters query real PostgreSQL tables.
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0B981"/>
                </a:solidFill>
              </a:rPr>
              <a:t>✓ Autonomous Teacher Uploads: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Educators upload question papers and resources on demand with zero disk bloat.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Fusion Educational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Fusion High Multi-School Educational Ecosystem — Complete Role-by-Role System Presentation</dc:title>
  <dc:subject>PptxGenJS Presentation</dc:subject>
  <dc:creator>Dr. Tshepo Makola (SuperAdmin Executive)</dc:creator>
  <cp:lastModifiedBy>Dr. Tshepo Makola (SuperAdmin Executive)</cp:lastModifiedBy>
  <cp:revision>1</cp:revision>
  <dcterms:created xsi:type="dcterms:W3CDTF">2026-08-30T14:31:09Z</dcterms:created>
  <dcterms:modified xsi:type="dcterms:W3CDTF">2026-08-30T14:31:09Z</dcterms:modified>
</cp:coreProperties>
</file>